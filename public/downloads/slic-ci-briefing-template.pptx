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Bangkok</c:v>
                </c:pt>
              </c:strCache>
            </c:strRef>
          </c:tx>
          <c:spPr>
            <a:solidFill>
              <a:srgbClr val="B85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8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Growth Pressure (25%)</c:v>
                  </c:pt>
                  <c:pt idx="1">
                    <c:v>Viability (22%)</c:v>
                  </c:pt>
                  <c:pt idx="2">
                    <c:v>Capability (18%)</c:v>
                  </c:pt>
                  <c:pt idx="3">
                    <c:v>Community (15%)</c:v>
                  </c:pt>
                  <c:pt idx="4">
                    <c:v>Creative (20%)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49.9</c:v>
                </c:pt>
                <c:pt idx="1">
                  <c:v>76.6</c:v>
                </c:pt>
                <c:pt idx="2">
                  <c:v>68.2</c:v>
                </c:pt>
                <c:pt idx="3">
                  <c:v>70.7</c:v>
                </c:pt>
                <c:pt idx="4">
                  <c:v>44.5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Index Average (158 cities)</c:v>
                </c:pt>
              </c:strCache>
            </c:strRef>
          </c:tx>
          <c:spPr>
            <a:solidFill>
              <a:srgbClr val="3A2E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8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Growth Pressure (25%)</c:v>
                  </c:pt>
                  <c:pt idx="1">
                    <c:v>Viability (22%)</c:v>
                  </c:pt>
                  <c:pt idx="2">
                    <c:v>Capability (18%)</c:v>
                  </c:pt>
                  <c:pt idx="3">
                    <c:v>Community (15%)</c:v>
                  </c:pt>
                  <c:pt idx="4">
                    <c:v>Creative (20%)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57.1</c:v>
                </c:pt>
                <c:pt idx="1">
                  <c:v>71.9</c:v>
                </c:pt>
                <c:pt idx="2">
                  <c:v>62</c:v>
                </c:pt>
                <c:pt idx="3">
                  <c:v>50.1</c:v>
                </c:pt>
                <c:pt idx="4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8F5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5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a222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9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9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79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19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INTELLIGENCE BRIEF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Bangkok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657600" cy="0"/>
          </a:xfrm>
          <a:prstGeom prst="line">
            <a:avLst/>
          </a:prstGeom>
          <a:noFill/>
          <a:ln w="12700">
            <a:solidFill>
              <a:srgbClr val="B85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 Index 2026  ·  Smart and Liveable Cities Index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39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rank #52 of 158  ·  Alpha Tier  ·  Coverage Grade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brief — this format is available for all 163 cities in the SLIC Index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0" y="4754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AT A GLANCE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Bangkok — 2026 Scorecard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503920" cy="0"/>
          </a:xfrm>
          <a:prstGeom prst="line">
            <a:avLst/>
          </a:prstGeom>
          <a:noFill/>
          <a:ln w="6350">
            <a:solidFill>
              <a:srgbClr val="1C1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64208"/>
            <a:ext cx="1920240" cy="155448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192024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013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624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158 ranked cities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664208"/>
            <a:ext cx="1920240" cy="155448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664208"/>
            <a:ext cx="192024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8013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560320" y="2624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1664208"/>
            <a:ext cx="1920240" cy="155448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664208"/>
            <a:ext cx="192024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8013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617720" y="2624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Status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designation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37960" y="1664208"/>
            <a:ext cx="1920240" cy="155448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664208"/>
            <a:ext cx="1920240" cy="54864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8013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675120" y="2624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no penalty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3832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ranks in the top 33% of all 158 ranked cities and is one of 10 cities globally designated Alpha tier — a recognition of full data coverage, strong community performance, and regional diversity across the SLIC universe.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160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Global median SLIC score is 53.2  ·  Top quartile threshold: 61.8  ·  Bangkok scores above median across 4 of 5 pillars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BREAKDOWN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Pillar Profile vs. Index Average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89888"/>
          <a:ext cx="85039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 &amp; Gaps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503920" cy="0"/>
          </a:xfrm>
          <a:prstGeom prst="line">
            <a:avLst/>
          </a:prstGeom>
          <a:noFill/>
          <a:ln w="6350">
            <a:solidFill>
              <a:srgbClr val="1C1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72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ABOVE AVERAGE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713232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75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Viability  76.6  (+4.7 vs avg)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transit network, improving air quality, reliable infrastructure and utilities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023360" cy="713232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 70.7  (+20.6 vs avg)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72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hospitality and belonging — highest relative outperformance in this pillar globally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023360" cy="713232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 68.2  (+6.2 vs avg)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healthcare access and improving tertiary education outcomes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572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22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 AVERAGE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4023360" cy="713232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75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Pressure  49.9  (−7.2 vs avg)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2494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housing cost burden relative to disposable income; elevated working-time pressure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4023360" cy="713232"/>
          </a:xfrm>
          <a:prstGeom prst="rect">
            <a:avLst/>
          </a:prstGeom>
          <a:solidFill>
            <a:srgbClr val="FDF0F0"/>
          </a:solidFill>
          <a:ln w="12700">
            <a:solidFill>
              <a:srgbClr val="FDF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 44.5  (+10.5 vs avg)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072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 but still below 60 — entrepreneurial ecosystem maturing but not yet deep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1481328"/>
            <a:ext cx="0" cy="3474720"/>
          </a:xfrm>
          <a:prstGeom prst="line">
            <a:avLst/>
          </a:prstGeom>
          <a:noFill/>
          <a:ln w="6350">
            <a:solidFill>
              <a:srgbClr val="B85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17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 Creative pillar score of 44.5 is above the 158-city average of 34.0, despite appearing in the Gaps column — the gap shown is relative to Bangkok's own stronger pillars, not to the global field.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Bangkok vs. Comparable Cities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503920" cy="347472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3560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57984" y="1435608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98064" y="143560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9584" y="1435608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98264" y="1435608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66944" y="143560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81344" y="143560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95744" y="143560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18704" y="143560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737360"/>
            <a:ext cx="8503920" cy="658368"/>
          </a:xfrm>
          <a:prstGeom prst="rect">
            <a:avLst/>
          </a:prstGeom>
          <a:solidFill>
            <a:srgbClr val="2E2018"/>
          </a:solidFill>
          <a:ln w="12700">
            <a:solidFill>
              <a:srgbClr val="2E20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737360"/>
            <a:ext cx="64008" cy="658368"/>
          </a:xfrm>
          <a:prstGeom prst="rect">
            <a:avLst/>
          </a:prstGeom>
          <a:solidFill>
            <a:srgbClr val="B85C28"/>
          </a:solidFill>
          <a:ln w="12700">
            <a:solidFill>
              <a:srgbClr val="B85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90195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Bangkok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57984" y="190195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98064" y="190195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58.5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9584" y="19019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98264" y="19019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76.6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66944" y="19019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19019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70.7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95744" y="190195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44.5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18704" y="19019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anchor — Alpha designation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423160"/>
            <a:ext cx="8503920" cy="658368"/>
          </a:xfrm>
          <a:prstGeom prst="rect">
            <a:avLst/>
          </a:prstGeom>
          <a:solidFill>
            <a:srgbClr val="1E1812"/>
          </a:solidFill>
          <a:ln w="12700">
            <a:solidFill>
              <a:srgbClr val="1E18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258775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Kuala Lumpur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57984" y="258775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98064" y="258775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9584" y="25877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98264" y="25877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73.1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66944" y="25877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81344" y="25877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64.2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95744" y="258775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41.8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18704" y="25877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SLIC peer, lower community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108960"/>
            <a:ext cx="8503920" cy="658368"/>
          </a:xfrm>
          <a:prstGeom prst="rect">
            <a:avLst/>
          </a:prstGeom>
          <a:solidFill>
            <a:srgbClr val="241D17"/>
          </a:solidFill>
          <a:ln w="12700">
            <a:solidFill>
              <a:srgbClr val="241D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27355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 Chi Minh City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57984" y="327355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98064" y="327355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9584" y="32735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55.8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398264" y="32735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64.8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66944" y="32735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54.1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81344" y="32735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95744" y="327355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18704" y="32735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capability &amp; viability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794760"/>
            <a:ext cx="8503920" cy="658368"/>
          </a:xfrm>
          <a:prstGeom prst="rect">
            <a:avLst/>
          </a:prstGeom>
          <a:solidFill>
            <a:srgbClr val="1E1812"/>
          </a:solidFill>
          <a:ln w="12700">
            <a:solidFill>
              <a:srgbClr val="1E181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" y="395935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Fukuoka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157984" y="395935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98064" y="395935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59.1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529584" y="39593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58.4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398264" y="3959352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81.2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66944" y="39593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70.3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81344" y="395935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68.9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95744" y="3959352"/>
            <a:ext cx="676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918704" y="395935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peer — stronger pressure score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 data from SLIC Index 2026 published dataset. Ho Chi Minh City figures are illustrative — check slic.nonarkara.org for live values.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C1914"/>
          </a:solidFill>
          <a:ln w="12700">
            <a:solidFill>
              <a:srgbClr val="1C1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85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FORMAT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Intelligence Briefs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8503920" cy="0"/>
          </a:xfrm>
          <a:prstGeom prst="line">
            <a:avLst/>
          </a:prstGeom>
          <a:noFill/>
          <a:ln w="6350">
            <a:solidFill>
              <a:srgbClr val="1C1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727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 format is available for all 163 cities in the SLIC Index. Each brief covers the city's overall rank, SLIC score, five-pillar breakdown versus the global average, strength/gap analysis, and peer comparison.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City Officials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city's brief in presentations to investors, council members, or international partners. Data is citable — every metric links to a primary source.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474720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Researchers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cities across pillars. Download the ranked-city CSV for full dataset access. Source code and scoring workbook are available on GitHub.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474720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38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Media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8862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 scores are published under open methodology. City ranks and scores are freely quotable with attribution to the SLIC Index 2026.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709160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538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Cities Not Yet Ranked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88620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 accepts data submissions. If your city has fewer than 50% metric coverage, it enters the Watchlist. Coverage improves over time as primary data becomes available.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4709160"/>
            <a:ext cx="4023360" cy="0"/>
          </a:xfrm>
          <a:prstGeom prst="line">
            <a:avLst/>
          </a:prstGeom>
          <a:noFill/>
          <a:ln w="6350">
            <a:solidFill>
              <a:srgbClr val="C0B8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slic.nonarkara.org  ·  github.com/nonarkara/SLIC-Index  ·  SLIC Index V3 — 2026 Edition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Bangkok — City Intelligence Brief — SLIC Index 2026</dc:title>
  <dc:subject>PptxGenJS Presentation</dc:subject>
  <dc:creator>Non Arkara / ReTL</dc:creator>
  <cp:lastModifiedBy>Non Arkara / ReTL</cp:lastModifiedBy>
  <cp:revision>1</cp:revision>
  <dcterms:created xsi:type="dcterms:W3CDTF">2026-06-18T19:13:17Z</dcterms:created>
  <dcterms:modified xsi:type="dcterms:W3CDTF">2026-06-18T19:13:17Z</dcterms:modified>
</cp:coreProperties>
</file>