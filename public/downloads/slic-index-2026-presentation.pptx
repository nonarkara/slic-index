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SLIC Score</c:v>
                </c:pt>
              </c:strCache>
            </c:strRef>
          </c:tx>
          <c:spPr>
            <a:solidFill>
              <a:srgbClr val="B8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Pittsburgh, USA</c:v>
                  </c:pt>
                  <c:pt idx="1">
                    <c:v>Prague, Czechia</c:v>
                  </c:pt>
                  <c:pt idx="2">
                    <c:v>Minneapolis, USA</c:v>
                  </c:pt>
                  <c:pt idx="3">
                    <c:v>Ottawa, Canada</c:v>
                  </c:pt>
                  <c:pt idx="4">
                    <c:v>Eindhoven, Netherlands</c:v>
                  </c:pt>
                  <c:pt idx="5">
                    <c:v>Kaohsiung, Taiwan</c:v>
                  </c:pt>
                  <c:pt idx="6">
                    <c:v>Raleigh, USA</c:v>
                  </c:pt>
                  <c:pt idx="7">
                    <c:v>Bergen, Norway</c:v>
                  </c:pt>
                  <c:pt idx="8">
                    <c:v>Gothenburg, Sweden</c:v>
                  </c:pt>
                  <c:pt idx="9">
                    <c:v>Montreal, Canada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68.2</c:v>
                </c:pt>
                <c:pt idx="1">
                  <c:v>68.5</c:v>
                </c:pt>
                <c:pt idx="2">
                  <c:v>68.9</c:v>
                </c:pt>
                <c:pt idx="3">
                  <c:v>69.3</c:v>
                </c:pt>
                <c:pt idx="4">
                  <c:v>69.6</c:v>
                </c:pt>
                <c:pt idx="5">
                  <c:v>71</c:v>
                </c:pt>
                <c:pt idx="6">
                  <c:v>71.8</c:v>
                </c:pt>
                <c:pt idx="7">
                  <c:v>72.1</c:v>
                </c:pt>
                <c:pt idx="8">
                  <c:v>72.6</c:v>
                </c:pt>
                <c:pt idx="9">
                  <c:v>73.9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8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5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b"/>
        <c:majorGridlines>
          <c:spPr>
            <a:ln w="6350" cap="flat">
              <a:solidFill>
                <a:srgbClr val="3a2e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914"/>
        </a:solidFill>
        <a:ln>
          <a:noFill/>
        </a:ln>
        <a:effectLst/>
      </c:spPr>
    </c:plotArea>
    <c:plotVisOnly val="1"/>
    <c:dispBlanksAs val="span"/>
  </c:chart>
  <c:spPr>
    <a:solidFill>
      <a:srgbClr val="1C19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Cities</c:v>
                </c:pt>
              </c:strCache>
            </c:strRef>
          </c:tx>
          <c:spPr>
            <a:solidFill>
              <a:srgbClr val="B8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Western, N. &amp; S. Europe</c:v>
                  </c:pt>
                  <c:pt idx="1">
                    <c:v>S./E. Europe &amp; Eurasia</c:v>
                  </c:pt>
                  <c:pt idx="2">
                    <c:v>East Asia</c:v>
                  </c:pt>
                  <c:pt idx="3">
                    <c:v>Southeast Asia</c:v>
                  </c:pt>
                  <c:pt idx="4">
                    <c:v>North America</c:v>
                  </c:pt>
                  <c:pt idx="5">
                    <c:v>Latin America</c:v>
                  </c:pt>
                  <c:pt idx="6">
                    <c:v>South Asia</c:v>
                  </c:pt>
                  <c:pt idx="7">
                    <c:v>Africa</c:v>
                  </c:pt>
                  <c:pt idx="8">
                    <c:v>Middle East</c:v>
                  </c:pt>
                  <c:pt idx="9">
                    <c:v>Oceania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17</c:v>
                </c:pt>
                <c:pt idx="2">
                  <c:v>19</c:v>
                </c:pt>
                <c:pt idx="3">
                  <c:v>16</c:v>
                </c:pt>
                <c:pt idx="4">
                  <c:v>16</c:v>
                </c:pt>
                <c:pt idx="5">
                  <c:v>14</c:v>
                </c:pt>
                <c:pt idx="6">
                  <c:v>15</c:v>
                </c:pt>
                <c:pt idx="7">
                  <c:v>15</c:v>
                </c:pt>
                <c:pt idx="8">
                  <c:v>12</c:v>
                </c:pt>
                <c:pt idx="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8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5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b"/>
        <c:majorGridlines>
          <c:spPr>
            <a:ln w="6350" cap="flat">
              <a:solidFill>
                <a:srgbClr val="3a2e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914"/>
        </a:solidFill>
        <a:ln>
          <a:noFill/>
        </a:ln>
        <a:effectLst/>
      </c:spPr>
    </c:plotArea>
    <c:plotVisOnly val="1"/>
    <c:dispBlanksAs val="span"/>
  </c:chart>
  <c:spPr>
    <a:solidFill>
      <a:srgbClr val="1C19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SLIC INDEX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578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and Liveable Cities Index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Edition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498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 Cities  ·  5 Pillars  ·  22 Metrics  ·  10 Regions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INDEX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SLIC?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— Smart and Liveable Cities Index — is an independent city ranking measuring quality of life across 163 cities in 10 world regions.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commercial indexes, SLIC uses open-source methodology, fully transparent scoring, and no editorial overrides. Every score is traceable to primary data sources.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22 scored metrics and 3 diagnostics from World Bank, WHO, UNODC, Freedom House, WIPO, IQAir, and Numbeo — updated annually from published, primary sources.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1828800" cy="141732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600200"/>
            <a:ext cx="182880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764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16636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600200"/>
            <a:ext cx="1828800" cy="141732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1600200"/>
            <a:ext cx="182880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76479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13232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182112"/>
            <a:ext cx="1828800" cy="141732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182112"/>
            <a:ext cx="182880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34670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166360" y="4169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182112"/>
            <a:ext cx="1828800" cy="141732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3182112"/>
            <a:ext cx="182880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34670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7132320" y="41696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Regions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PILLARS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1536192" cy="36118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1536192" cy="6400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9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71576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" y="343814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" y="3721608"/>
            <a:ext cx="1316736" cy="0"/>
          </a:xfrm>
          <a:prstGeom prst="line">
            <a:avLst/>
          </a:prstGeom>
          <a:noFill/>
          <a:ln w="6350">
            <a:solidFill>
              <a:srgbClr val="D0C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130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pressure, housing costs, income, work-life burden, economic stress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1389888"/>
            <a:ext cx="1536192" cy="36118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389888"/>
            <a:ext cx="1536192" cy="6400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499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18288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21408" y="271576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21408" y="343814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21408" y="3721608"/>
            <a:ext cx="1316736" cy="0"/>
          </a:xfrm>
          <a:prstGeom prst="line">
            <a:avLst/>
          </a:prstGeom>
          <a:noFill/>
          <a:ln w="6350">
            <a:solidFill>
              <a:srgbClr val="D0C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38130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safety, transit access, air quality, digital infrastructure, utilities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1389888"/>
            <a:ext cx="1536192" cy="36118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389888"/>
            <a:ext cx="1536192" cy="6400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1499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18288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67328" y="271576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767328" y="343814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67328" y="3721608"/>
            <a:ext cx="1316736" cy="0"/>
          </a:xfrm>
          <a:prstGeom prst="line">
            <a:avLst/>
          </a:prstGeom>
          <a:noFill/>
          <a:ln w="6350">
            <a:solidFill>
              <a:srgbClr val="D0C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8130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quality, education, equal opportunity, distributional fairness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1389888"/>
            <a:ext cx="1536192" cy="36118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1389888"/>
            <a:ext cx="1536192" cy="6400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1499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18288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13248" y="271576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413248" y="343814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13248" y="3721608"/>
            <a:ext cx="1316736" cy="0"/>
          </a:xfrm>
          <a:prstGeom prst="line">
            <a:avLst/>
          </a:prstGeom>
          <a:noFill/>
          <a:ln w="6350">
            <a:solidFill>
              <a:srgbClr val="D0C0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38130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Belonging, tolerance, cultural vitality, civic freedom and dignity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1389888"/>
            <a:ext cx="1536192" cy="361188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1389888"/>
            <a:ext cx="1536192" cy="6400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149961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9168" y="18288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59168" y="2715768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7059168" y="343814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059168" y="3721608"/>
            <a:ext cx="1316736" cy="0"/>
          </a:xfrm>
          <a:prstGeom prst="line">
            <a:avLst/>
          </a:prstGeom>
          <a:noFill/>
          <a:ln w="6350">
            <a:solidFill>
              <a:srgbClr val="D0C0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38130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Entrepreneurship, innovation, economic dynamism, investment climate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Score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27632"/>
            <a:ext cx="2560320" cy="265176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64792"/>
            <a:ext cx="384048" cy="38404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Raw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only: World Bank, WHO, UNODC, Freedom House, WIPO, Numbeo, IQAir. No surveys, no editorial inputs, no AI estimates.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0088" y="2953512"/>
            <a:ext cx="192024" cy="0"/>
          </a:xfrm>
          <a:prstGeom prst="line">
            <a:avLst/>
          </a:prstGeom>
          <a:noFill/>
          <a:ln w="19050">
            <a:solidFill>
              <a:srgbClr val="B85C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627632"/>
            <a:ext cx="2560320" cy="265176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764792"/>
            <a:ext cx="384048" cy="38404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 0–100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81635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scored against fixed piecewise linear anchors. Adding a new city never changes an existing score — this is absolute, not relative scoring.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0448" y="2953512"/>
            <a:ext cx="192024" cy="0"/>
          </a:xfrm>
          <a:prstGeom prst="line">
            <a:avLst/>
          </a:prstGeom>
          <a:noFill/>
          <a:ln w="19050">
            <a:solidFill>
              <a:srgbClr val="B85C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27632"/>
            <a:ext cx="2560320" cy="265176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64792"/>
            <a:ext cx="384048" cy="38404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AMPI Aggregation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281635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Adjusted Mazziotta-Pareto Index penalizes imbalance across pillars. A city strong in one but weak in others scores lower than an equally balanced city.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416552"/>
            <a:ext cx="8503920" cy="475488"/>
          </a:xfrm>
          <a:prstGeom prst="rect">
            <a:avLst/>
          </a:prstGeom>
          <a:solidFill>
            <a:srgbClr val="E8E2DA"/>
          </a:solidFill>
          <a:ln w="12700">
            <a:solidFill>
              <a:srgbClr val="E8E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348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grades: A = full data (no penalty)  ·  B = partial (−5 pts)  ·  C = provisional (−15 pts)  ·  Watchlist = insufficient data for ranking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— Global Rankings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DESIGNATION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Tier Cities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cities recognized for full-data coverage, strong community scores, and geographic diversity — evaluated independently of SLIC rank.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40280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317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5694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Montreal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5488" y="29900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16736" y="2990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66544" y="2240280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2240280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23317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76272" y="25694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Raleigh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76272" y="29900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2990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71.8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67328" y="2240280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67328" y="2240280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7056" y="23317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77056" y="25694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Kaohsiung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77056" y="29900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2990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68112" y="2240280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2240280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3317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25694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Eindhoven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577840" y="29900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19088" y="2990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68896" y="2240280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68896" y="2240280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8624" y="23317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78624" y="25694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Copenhagen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278624" y="299008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19872" y="2990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" y="3584448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584448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3675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" y="39136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Jeju City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75488" y="433425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16736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066544" y="3584448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66544" y="3584448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3675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76272" y="39136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Taipei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2176272" y="433425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17520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61.5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767328" y="3584448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67328" y="3584448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77056" y="3675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77056" y="39136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Bangkok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877056" y="433425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18304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58.5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468112" y="3584448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68112" y="3584448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3675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77840" y="39136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Fukuoka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577840" y="433425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19088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168896" y="3584448"/>
            <a:ext cx="1609344" cy="123444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68896" y="3584448"/>
            <a:ext cx="64008" cy="123444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78624" y="367588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#57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78624" y="391363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Valparaíso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7278624" y="433425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19872" y="4334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58.9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 Cities. 10 Regions.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8503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&amp; Independent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scoring workbook, and source code on GitHub. Every calculation is auditable.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Imputation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excluded, not fabricated. Cities with insufficient data receive coverage penalties, not invented scores.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907792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Scoring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cities never changes existing scores. Rankings reflect data quality and city performance, not editorial politics.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25112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Sources Only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Bank, WHO, UNODC, WIPO, IQAir, Freedom House, Numbeo — no AI estimates, no composite proxies, no commercial data partnerships.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4325112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support: DEPA Thailand (Digital Economy Promotion Agency) + PMU-A (National Research Management Unit). No private donors. No editorial control by funders.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&amp; Explore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Rankings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09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slic.nonarkara.org/rankings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 with pillar sliders, locale switch, and 163-city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Cities 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709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slic.nonarkara.org/downloads/slic-ranked-cities-v2.csv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993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163 cities with pillar scores, coverage grades, and provenance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PDF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slic.nonarkara.org/methodology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1638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specification in EN / TH / ZH, 11 pages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Sheets Template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slic.nonarkara.org/downloads/slic-google-sheets-template.xlsx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31638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 own city against the SLIC framework, workbook-backed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639312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12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Scorecards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slic.nonarkara.org/city/[city-id]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3342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Per-city metric breakdown with source citations and pillar spider chart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809744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12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050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github.com/nonarkara/SLIC-Index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43342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— open source, MIT licensed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809744"/>
            <a:ext cx="4023360" cy="0"/>
          </a:xfrm>
          <a:prstGeom prst="line">
            <a:avLst/>
          </a:prstGeom>
          <a:noFill/>
          <a:ln w="6350">
            <a:solidFill>
              <a:srgbClr val="3A2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by Non Arkara  ·  ReTL (The Reason to Live Company)  ·  DEPA Thailand  ·  PMU-A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 Index 2026 — Smart and Liveable Cities Index</dc:title>
  <dc:subject>SLIC Index V3 — 163 Cities — 5 Pillars — 22 Metrics</dc:subject>
  <dc:creator>Non Arkara / ReTL</dc:creator>
  <cp:lastModifiedBy>Non Arkara / ReTL</cp:lastModifiedBy>
  <cp:revision>1</cp:revision>
  <dcterms:created xsi:type="dcterms:W3CDTF">2026-06-18T19:13:16Z</dcterms:created>
  <dcterms:modified xsi:type="dcterms:W3CDTF">2026-06-18T19:13:16Z</dcterms:modified>
</cp:coreProperties>
</file>